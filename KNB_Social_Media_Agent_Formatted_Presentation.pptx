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7" r:id="rId2"/>
    <p:sldId id="296" r:id="rId3"/>
    <p:sldId id="297" r:id="rId4"/>
    <p:sldId id="298" r:id="rId5"/>
    <p:sldId id="300" r:id="rId6"/>
    <p:sldId id="299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792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0DF8A-25F7-46FB-B173-13B8FB12E85A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2FDD4-6260-400A-8BE0-C8C5809BC6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275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1867D23-C1C8-4D15-A914-23EAAEEC57F2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IN"/>
              <a:t>Doctoral Progress Committee -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D1C8765-CB22-4976-8758-5A372A2D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549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92CE-0999-4EB6-9368-8C73B1F16242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Doctoral Progress Committee -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D1C8765-CB22-4976-8758-5A372A2D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7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B6B4E4E-8D3E-4CE4-9245-5C46B72C63D5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IN"/>
              <a:t>Doctoral Progress Committee -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D1C8765-CB22-4976-8758-5A372A2D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16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6C013-9419-482C-A4C0-4A69182A78B7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Doctoral Progress Committee - 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989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36D12-EF89-4721-80C4-D96EAC1C3BDE}" type="datetime1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Doctoral Progress Committee - 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974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2162F-2E74-4086-87C6-3BA6D31E101D}" type="datetime1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Doctoral Progress Committee - 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33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7F136-074F-4CC6-881E-CA02938A1717}" type="datetime1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Doctoral Progress Committee - 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6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19575DA-B3DD-48F8-B1F8-389D5AC2AA7A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IN"/>
              <a:t>Doctoral Progress Committee - 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D1C8765-CB22-4976-8758-5A372A2D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50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32E0F-64BD-4910-8E51-675C51D39CE6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Doctoral Progress Committee - 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863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9BAF-3330-497D-9A18-467CD551E181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Doctoral Progress Committee -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35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5E14CF-9B3A-4E1C-8F25-A7ACE2989479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IN"/>
              <a:t>Doctoral Progress Committee -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D1C8765-CB22-4976-8758-5A372A2DCF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70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48E540F-1313-411B-974D-306884E8ED03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IN"/>
              <a:t>Doctoral Progress Committee - 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D1C8765-CB22-4976-8758-5A372A2DCF3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3352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0899AD-1C63-F328-ED69-02D17CF3D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888" y="983664"/>
            <a:ext cx="11536217" cy="1634950"/>
          </a:xfrm>
        </p:spPr>
        <p:txBody>
          <a:bodyPr>
            <a:noAutofit/>
          </a:bodyPr>
          <a:lstStyle/>
          <a:p>
            <a:pPr algn="ctr"/>
            <a:r>
              <a:rPr lang="en-IN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br>
              <a:rPr lang="en-IN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IN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4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University Engagement Project Submission</a:t>
            </a:r>
            <a:r>
              <a:rPr lang="en-US" sz="28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IN" sz="28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DDDC847-DCC5-73F1-3166-8CB83021E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0280" y="3266845"/>
            <a:ext cx="7659719" cy="2596926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</a:pPr>
            <a:endParaRPr lang="en-US" sz="2200" b="1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80000"/>
              </a:lnSpc>
            </a:pPr>
            <a:r>
              <a:rPr lang="en-US" sz="22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of Project – Social Media Intelligence &amp; </a:t>
            </a:r>
            <a:r>
              <a:rPr lang="en-US" sz="2200" b="1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  <a:p>
            <a:pPr algn="ctr">
              <a:lnSpc>
                <a:spcPct val="80000"/>
              </a:lnSpc>
            </a:pPr>
            <a:endParaRPr lang="en-US" sz="2200" b="1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80000"/>
              </a:lnSpc>
            </a:pPr>
            <a:r>
              <a:rPr lang="en-US" sz="22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– Social Media Agent using </a:t>
            </a:r>
            <a:r>
              <a:rPr lang="en-US" sz="2200" b="1" cap="none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Agentic </a:t>
            </a:r>
            <a:r>
              <a:rPr lang="en-US" sz="22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</a:p>
          <a:p>
            <a:pPr algn="ctr">
              <a:lnSpc>
                <a:spcPct val="80000"/>
              </a:lnSpc>
            </a:pPr>
            <a:endParaRPr lang="en-US" sz="2200" b="1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80000"/>
              </a:lnSpc>
            </a:pPr>
            <a:r>
              <a:rPr lang="en-IN" sz="22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No.10: Social Media Agent</a:t>
            </a:r>
          </a:p>
          <a:p>
            <a:pPr algn="ctr">
              <a:lnSpc>
                <a:spcPct val="80000"/>
              </a:lnSpc>
            </a:pPr>
            <a:endParaRPr lang="en-US" sz="2400" dirty="0"/>
          </a:p>
          <a:p>
            <a:pPr algn="ctr">
              <a:lnSpc>
                <a:spcPct val="80000"/>
              </a:lnSpc>
            </a:pPr>
            <a:endParaRPr lang="en-US" sz="2200" b="1" cap="none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80000"/>
              </a:lnSpc>
            </a:pPr>
            <a:endParaRPr lang="en-US" sz="2200" b="1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80000"/>
              </a:lnSpc>
            </a:pPr>
            <a:endParaRPr lang="en-US" sz="2200" b="1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927FC38E-5607-D503-CC89-CEAE270BBB54}"/>
              </a:ext>
            </a:extLst>
          </p:cNvPr>
          <p:cNvSpPr txBox="1">
            <a:spLocks/>
          </p:cNvSpPr>
          <p:nvPr/>
        </p:nvSpPr>
        <p:spPr>
          <a:xfrm>
            <a:off x="3962399" y="1206884"/>
            <a:ext cx="7197726" cy="101292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D65E36BC-99A0-200E-4D6C-13974E28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55631" y="6414906"/>
            <a:ext cx="2844800" cy="365125"/>
          </a:xfrm>
        </p:spPr>
        <p:txBody>
          <a:bodyPr/>
          <a:lstStyle/>
          <a:p>
            <a:fld id="{11198C21-4875-48A5-A409-E0A086347292}" type="datetime1">
              <a:rPr lang="en-IN" smtClean="0"/>
              <a:t>16-07-2026</a:t>
            </a:fld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82966C9D-8540-8AC0-305E-CA27AA36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65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– Social Media Agent using Agentic AI</a:t>
            </a:r>
            <a:b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2</a:t>
            </a:fld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F8DBFB98-934B-0F86-D0EF-7E72A0040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020" y="2732040"/>
            <a:ext cx="11029615" cy="2202818"/>
          </a:xfrm>
        </p:spPr>
        <p:txBody>
          <a:bodyPr>
            <a:normAutofit/>
          </a:bodyPr>
          <a:lstStyle/>
          <a:p>
            <a:r>
              <a:rPr lang="en-US" sz="1600" b="1" dirty="0"/>
              <a:t>Challenge:</a:t>
            </a:r>
          </a:p>
          <a:p>
            <a:pPr marL="0" indent="0">
              <a:buNone/>
            </a:pPr>
            <a:r>
              <a:rPr lang="en-US" sz="1600" dirty="0"/>
              <a:t>Brands struggle to track trends, sentiment, competitors, and engagement across multiple platforms.</a:t>
            </a:r>
          </a:p>
          <a:p>
            <a:endParaRPr lang="en-US" sz="1600" dirty="0"/>
          </a:p>
          <a:p>
            <a:r>
              <a:rPr lang="en-US" sz="1600" b="1" dirty="0"/>
              <a:t>Objective:</a:t>
            </a:r>
          </a:p>
          <a:p>
            <a:pPr marL="0" indent="0">
              <a:buNone/>
            </a:pPr>
            <a:r>
              <a:rPr lang="en-US" sz="1600" dirty="0"/>
              <a:t>Build an Agentic AI companion that collects, analyzes, predicts, and visualizes social media insights in real time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234561"/>
              </p:ext>
            </p:extLst>
          </p:nvPr>
        </p:nvGraphicFramePr>
        <p:xfrm>
          <a:off x="798285" y="4391781"/>
          <a:ext cx="9144000" cy="1936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6058"/>
                <a:gridCol w="1465942"/>
                <a:gridCol w="2286000"/>
                <a:gridCol w="2286000"/>
              </a:tblGrid>
              <a:tr h="55873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Student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Photo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Email.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Mobile No</a:t>
                      </a:r>
                      <a:endParaRPr lang="en-IN" dirty="0"/>
                    </a:p>
                  </a:txBody>
                  <a:tcPr/>
                </a:tc>
              </a:tr>
              <a:tr h="1377710"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Dr.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Keyur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Brahmbhatt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 smtClean="0"/>
                        <a:t>Keyur.brahmbhatt</a:t>
                      </a:r>
                      <a:endParaRPr lang="en-IN" dirty="0" smtClean="0"/>
                    </a:p>
                    <a:p>
                      <a:pPr algn="ctr"/>
                      <a:r>
                        <a:rPr lang="en-I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@bvmengineering.ac.in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9428900107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2" descr="D:\Keyur sir\im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9" y="4991553"/>
            <a:ext cx="1206878" cy="1220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043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LangFlow</a:t>
            </a:r>
            <a:r>
              <a:rPr lang="en-IN" dirty="0"/>
              <a:t> + IBM watsonx.ai + IBM Granite Models + RAG + </a:t>
            </a:r>
            <a:r>
              <a:rPr lang="en-IN" dirty="0" err="1"/>
              <a:t>ChromaDB</a:t>
            </a:r>
            <a:endParaRPr lang="en-IN" dirty="0"/>
          </a:p>
          <a:p>
            <a:r>
              <a:rPr lang="en-IN" dirty="0" smtClean="0"/>
              <a:t>Technology </a:t>
            </a:r>
            <a:r>
              <a:rPr lang="en-IN" dirty="0"/>
              <a:t>Used:</a:t>
            </a:r>
          </a:p>
          <a:p>
            <a:r>
              <a:rPr lang="en-IN" dirty="0" err="1" smtClean="0"/>
              <a:t>LangFlow</a:t>
            </a:r>
            <a:endParaRPr lang="en-IN" dirty="0"/>
          </a:p>
          <a:p>
            <a:r>
              <a:rPr lang="en-IN" dirty="0" smtClean="0"/>
              <a:t> </a:t>
            </a:r>
            <a:r>
              <a:rPr lang="en-IN" dirty="0"/>
              <a:t>IBM watsonx.ai</a:t>
            </a:r>
          </a:p>
          <a:p>
            <a:r>
              <a:rPr lang="en-IN" dirty="0" smtClean="0"/>
              <a:t> </a:t>
            </a:r>
            <a:r>
              <a:rPr lang="en-IN" dirty="0"/>
              <a:t>IBM Granite Models</a:t>
            </a:r>
          </a:p>
          <a:p>
            <a:r>
              <a:rPr lang="en-IN" dirty="0" smtClean="0"/>
              <a:t> </a:t>
            </a:r>
            <a:r>
              <a:rPr lang="en-IN" dirty="0" err="1"/>
              <a:t>ChromaDB</a:t>
            </a:r>
            <a:endParaRPr lang="en-IN" dirty="0"/>
          </a:p>
          <a:p>
            <a:r>
              <a:rPr lang="en-IN" dirty="0" smtClean="0"/>
              <a:t> </a:t>
            </a:r>
            <a:r>
              <a:rPr lang="en-IN" dirty="0" err="1"/>
              <a:t>Streamlit</a:t>
            </a:r>
            <a:r>
              <a:rPr lang="en-IN" dirty="0"/>
              <a:t> Dashboard</a:t>
            </a:r>
          </a:p>
          <a:p>
            <a:r>
              <a:rPr lang="en-IN" dirty="0" smtClean="0"/>
              <a:t> </a:t>
            </a:r>
            <a:r>
              <a:rPr lang="en-IN" dirty="0"/>
              <a:t>Python APIs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564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800" dirty="0"/>
              <a:t>A multi-agent Social Media Intelligence platform that aggregates posts, comments, </a:t>
            </a:r>
            <a:r>
              <a:rPr lang="en-IN" sz="2800" dirty="0" err="1"/>
              <a:t>hashtags</a:t>
            </a:r>
            <a:r>
              <a:rPr lang="en-IN" sz="2800" dirty="0"/>
              <a:t>, influencer content, and competitor activity. RAG retrieves trusted context while Granite models generate insights, content suggestions, and forecasts.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411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LangFlow</a:t>
            </a:r>
            <a:r>
              <a:rPr lang="en-IN" dirty="0"/>
              <a:t> 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01372"/>
            <a:ext cx="11029615" cy="39574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000" dirty="0"/>
              <a:t>1. Chat Input</a:t>
            </a:r>
          </a:p>
          <a:p>
            <a:pPr marL="0" indent="0">
              <a:buNone/>
            </a:pPr>
            <a:r>
              <a:rPr lang="en-IN" sz="2000" dirty="0"/>
              <a:t>2. IBM </a:t>
            </a:r>
            <a:r>
              <a:rPr lang="en-IN" sz="2000" dirty="0" err="1"/>
              <a:t>watsonx</a:t>
            </a:r>
            <a:r>
              <a:rPr lang="en-IN" sz="2000" dirty="0"/>
              <a:t> Model</a:t>
            </a:r>
          </a:p>
          <a:p>
            <a:pPr marL="0" indent="0">
              <a:buNone/>
            </a:pPr>
            <a:r>
              <a:rPr lang="en-IN" sz="2000" dirty="0"/>
              <a:t>3. Granite Model</a:t>
            </a:r>
          </a:p>
          <a:p>
            <a:pPr marL="0" indent="0">
              <a:buNone/>
            </a:pPr>
            <a:r>
              <a:rPr lang="en-IN" sz="2000" dirty="0"/>
              <a:t>4. Social Media Data Loader</a:t>
            </a:r>
          </a:p>
          <a:p>
            <a:pPr marL="0" indent="0">
              <a:buNone/>
            </a:pPr>
            <a:r>
              <a:rPr lang="en-IN" sz="2000" dirty="0"/>
              <a:t>5. Text Splitter</a:t>
            </a:r>
          </a:p>
          <a:p>
            <a:pPr marL="0" indent="0">
              <a:buNone/>
            </a:pPr>
            <a:r>
              <a:rPr lang="en-IN" sz="2000" dirty="0"/>
              <a:t>6. </a:t>
            </a:r>
            <a:r>
              <a:rPr lang="en-IN" sz="2000" dirty="0" err="1"/>
              <a:t>Embeddings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7. Chroma Vector Store</a:t>
            </a:r>
          </a:p>
          <a:p>
            <a:pPr marL="0" indent="0">
              <a:buNone/>
            </a:pPr>
            <a:r>
              <a:rPr lang="en-IN" sz="2000" dirty="0"/>
              <a:t>8. Retriever</a:t>
            </a:r>
          </a:p>
          <a:p>
            <a:pPr marL="0" indent="0">
              <a:buNone/>
            </a:pPr>
            <a:r>
              <a:rPr lang="en-IN" sz="2000" dirty="0"/>
              <a:t>9. Agent Component</a:t>
            </a:r>
          </a:p>
          <a:p>
            <a:pPr marL="0" indent="0">
              <a:buNone/>
            </a:pPr>
            <a:r>
              <a:rPr lang="en-IN" sz="2000" dirty="0"/>
              <a:t>10. Chat Output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063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/>
              <a:t>LangFlow</a:t>
            </a:r>
            <a:r>
              <a:rPr lang="en-IN" dirty="0"/>
              <a:t> </a:t>
            </a:r>
            <a:r>
              <a:rPr lang="en-IN" dirty="0" smtClean="0"/>
              <a:t>  Workflow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6</a:t>
            </a:fld>
            <a:endParaRPr lang="en-IN"/>
          </a:p>
        </p:txBody>
      </p:sp>
      <p:pic>
        <p:nvPicPr>
          <p:cNvPr id="1026" name="Picture 2" descr="D:\DBP\Event\2026-27\Odd\FDP_june_2026\Social Media Agent using Agentic A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09" y="1756229"/>
            <a:ext cx="11523434" cy="509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200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Architecture Blueprint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612" y="1930400"/>
            <a:ext cx="9145587" cy="4818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9033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 of </a:t>
            </a:r>
            <a:r>
              <a:rPr lang="en-IN" dirty="0" err="1"/>
              <a:t>Agentic</a:t>
            </a:r>
            <a:r>
              <a:rPr lang="en-IN" dirty="0"/>
              <a:t>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Autonomous monitoring of social platforms</a:t>
            </a:r>
          </a:p>
          <a:p>
            <a:pPr marL="0" indent="0">
              <a:buNone/>
            </a:pPr>
            <a:r>
              <a:rPr lang="en-IN" dirty="0"/>
              <a:t>• Multi-agent collaboration</a:t>
            </a:r>
          </a:p>
          <a:p>
            <a:pPr marL="0" indent="0">
              <a:buNone/>
            </a:pPr>
            <a:r>
              <a:rPr lang="en-IN" dirty="0"/>
              <a:t>• Sentiment analysis</a:t>
            </a:r>
          </a:p>
          <a:p>
            <a:pPr marL="0" indent="0">
              <a:buNone/>
            </a:pPr>
            <a:r>
              <a:rPr lang="en-IN" dirty="0"/>
              <a:t>• Trend forecasting</a:t>
            </a:r>
          </a:p>
          <a:p>
            <a:pPr marL="0" indent="0">
              <a:buNone/>
            </a:pPr>
            <a:r>
              <a:rPr lang="en-IN" dirty="0"/>
              <a:t>• Competitor intelligence</a:t>
            </a:r>
          </a:p>
          <a:p>
            <a:pPr marL="0" indent="0">
              <a:buNone/>
            </a:pPr>
            <a:r>
              <a:rPr lang="en-IN" dirty="0"/>
              <a:t>• Content recommendation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469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dirty="0" err="1"/>
              <a:t>LangFlow</a:t>
            </a:r>
            <a:r>
              <a:rPr lang="en-IN" sz="3200" dirty="0"/>
              <a:t>, IBM watsonx.ai, IBM Granite Models, </a:t>
            </a:r>
            <a:r>
              <a:rPr lang="en-IN" sz="3200" dirty="0" err="1"/>
              <a:t>ChromaDB</a:t>
            </a:r>
            <a:r>
              <a:rPr lang="en-IN" sz="3200" dirty="0"/>
              <a:t>, RAG, Python, </a:t>
            </a:r>
            <a:r>
              <a:rPr lang="en-IN" sz="3200" dirty="0" err="1"/>
              <a:t>Streamlit</a:t>
            </a:r>
            <a:r>
              <a:rPr lang="en-IN" sz="3200" dirty="0"/>
              <a:t>, REST APIs, IBM Cloud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718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Token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Average Query: 2,000–4,000 tokens</a:t>
            </a:r>
          </a:p>
          <a:p>
            <a:r>
              <a:rPr lang="en-US" dirty="0"/>
              <a:t>Content Generation: 3,000–6,000 tokens</a:t>
            </a:r>
          </a:p>
          <a:p>
            <a:r>
              <a:rPr lang="en-US" dirty="0"/>
              <a:t>Daily Analytics Cycle: ~15,000 tokens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070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Multichannel Data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Collect and synthesize:</a:t>
            </a:r>
          </a:p>
          <a:p>
            <a:pPr marL="0" indent="0">
              <a:buNone/>
            </a:pPr>
            <a:r>
              <a:rPr lang="en-US" dirty="0"/>
              <a:t>• Posts</a:t>
            </a:r>
          </a:p>
          <a:p>
            <a:pPr marL="0" indent="0">
              <a:buNone/>
            </a:pPr>
            <a:r>
              <a:rPr lang="en-US" dirty="0"/>
              <a:t>• Comments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Hashtags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Influencer Content</a:t>
            </a:r>
          </a:p>
          <a:p>
            <a:pPr marL="0" indent="0">
              <a:buNone/>
            </a:pPr>
            <a:r>
              <a:rPr lang="en-US" dirty="0"/>
              <a:t>• Competitor Activity</a:t>
            </a:r>
          </a:p>
          <a:p>
            <a:pPr marL="0" indent="0">
              <a:buNone/>
            </a:pPr>
            <a:r>
              <a:rPr lang="en-US" dirty="0"/>
              <a:t>• Audience Feedback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37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Novelty &amp; Uniqueness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Multi-Agent Social Intelligence</a:t>
            </a:r>
          </a:p>
          <a:p>
            <a:pPr marL="0" indent="0">
              <a:buNone/>
            </a:pPr>
            <a:r>
              <a:rPr lang="en-IN" dirty="0"/>
              <a:t>• Real-time Trend Detection</a:t>
            </a:r>
          </a:p>
          <a:p>
            <a:pPr marL="0" indent="0">
              <a:buNone/>
            </a:pPr>
            <a:r>
              <a:rPr lang="en-IN" dirty="0"/>
              <a:t>• Predictive Engagement Forecasting</a:t>
            </a:r>
          </a:p>
          <a:p>
            <a:pPr marL="0" indent="0">
              <a:buNone/>
            </a:pPr>
            <a:r>
              <a:rPr lang="en-IN" dirty="0"/>
              <a:t>• AI-generated Campaign Ideas</a:t>
            </a:r>
          </a:p>
          <a:p>
            <a:pPr marL="0" indent="0">
              <a:buNone/>
            </a:pPr>
            <a:r>
              <a:rPr lang="en-IN" dirty="0"/>
              <a:t>• Multimodal Inputs (Text/Image/Voice)</a:t>
            </a:r>
          </a:p>
          <a:p>
            <a:pPr marL="0" indent="0">
              <a:buNone/>
            </a:pPr>
            <a:r>
              <a:rPr lang="en-IN" dirty="0"/>
              <a:t>• Enterprise-ready IBM AI Stack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246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Repository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GITHUB LINK</a:t>
            </a:r>
            <a:r>
              <a:rPr lang="en-IN"/>
              <a:t>: </a:t>
            </a:r>
            <a:r>
              <a:rPr lang="en-IN"/>
              <a:t>https://github.com/keyurbrahmbhatt-eng/social-media-agent-repo/tree/main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879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Cross-platform campaign automation</a:t>
            </a:r>
          </a:p>
          <a:p>
            <a:pPr marL="0" indent="0">
              <a:buNone/>
            </a:pPr>
            <a:r>
              <a:rPr lang="en-US" dirty="0"/>
              <a:t>2. Influencer collaboration recommendations</a:t>
            </a:r>
          </a:p>
          <a:p>
            <a:pPr marL="0" indent="0">
              <a:buNone/>
            </a:pPr>
            <a:r>
              <a:rPr lang="en-US" dirty="0"/>
              <a:t>3. Voice-enabled social media assistant</a:t>
            </a:r>
          </a:p>
          <a:p>
            <a:pPr marL="0" indent="0">
              <a:buNone/>
            </a:pPr>
            <a:r>
              <a:rPr lang="en-US" dirty="0"/>
              <a:t>4. Multilingual content generation</a:t>
            </a:r>
          </a:p>
          <a:p>
            <a:pPr marL="0" indent="0">
              <a:buNone/>
            </a:pPr>
            <a:r>
              <a:rPr lang="en-US" dirty="0"/>
              <a:t>5. Advanced audience segmentation</a:t>
            </a:r>
          </a:p>
          <a:p>
            <a:pPr marL="0" indent="0">
              <a:buNone/>
            </a:pPr>
            <a:r>
              <a:rPr lang="en-US" dirty="0"/>
              <a:t>6. Real-time ad performance optimization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C8765-CB22-4976-8758-5A372A2DCF3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38195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1281</TotalTime>
  <Words>391</Words>
  <Application>Microsoft Office PowerPoint</Application>
  <PresentationFormat>Custom</PresentationFormat>
  <Paragraphs>100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Dividend</vt:lpstr>
      <vt:lpstr>Presentation on “IBM University Engagement Project Submission”</vt:lpstr>
      <vt:lpstr>Project Title – Social Media Agent using Agentic AI </vt:lpstr>
      <vt:lpstr>Tech Stack</vt:lpstr>
      <vt:lpstr>Proposed Solution</vt:lpstr>
      <vt:lpstr>LangFlow Components Used</vt:lpstr>
      <vt:lpstr>LangFlow   Workflow</vt:lpstr>
      <vt:lpstr>Architecture Blueprint</vt:lpstr>
      <vt:lpstr>Role of Agentic AI</vt:lpstr>
      <vt:lpstr>Technology Used</vt:lpstr>
      <vt:lpstr>Token Usage</vt:lpstr>
      <vt:lpstr>Multichannel Data Fusion</vt:lpstr>
      <vt:lpstr>Novelty &amp; Uniqueness</vt:lpstr>
      <vt:lpstr>GitHub Repository Structure</vt:lpstr>
      <vt:lpstr>Future Scope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on “Deep Learning-Based Human Activity Recognition: Detecting Abnormalities ”</dc:title>
  <dc:creator>DivyangChauhan</dc:creator>
  <cp:lastModifiedBy>Dharmesh</cp:lastModifiedBy>
  <cp:revision>60</cp:revision>
  <dcterms:created xsi:type="dcterms:W3CDTF">2025-08-03T02:27:35Z</dcterms:created>
  <dcterms:modified xsi:type="dcterms:W3CDTF">2026-07-16T06:45:27Z</dcterms:modified>
</cp:coreProperties>
</file>